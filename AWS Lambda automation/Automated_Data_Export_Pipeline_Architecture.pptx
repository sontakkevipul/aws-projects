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27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1E1E1E"/>
                </a:solidFill>
                <a:latin typeface="Aptos"/>
              </a:rPr>
              <a:t>Automated Data Export Pipeline –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7712" y="987552"/>
            <a:ext cx="12801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ptos"/>
              </a:rPr>
              <a:t>IAM Role</a:t>
            </a:r>
          </a:p>
        </p:txBody>
      </p:sp>
      <p:pic>
        <p:nvPicPr>
          <p:cNvPr id="4" name="Picture 3" descr="Arch_AWS-Identity-and-Access-Management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70432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039" y="9875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ptos"/>
              </a:rPr>
              <a:t>Secrets Manager</a:t>
            </a:r>
          </a:p>
        </p:txBody>
      </p:sp>
      <p:pic>
        <p:nvPicPr>
          <p:cNvPr id="6" name="Picture 5" descr="Arch_AWS-Secrets-Manager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70432"/>
            <a:ext cx="658368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50592" y="2084831"/>
            <a:ext cx="3749039" cy="1481328"/>
          </a:xfrm>
          <a:prstGeom prst="rect">
            <a:avLst/>
          </a:prstGeom>
          <a:noFill/>
          <a:ln w="15240">
            <a:solidFill>
              <a:srgbClr val="7D91C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2" y="2103120"/>
            <a:ext cx="1828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473A0"/>
                </a:solidFill>
                <a:latin typeface="Aptos"/>
              </a:rPr>
              <a:t>VPC / Network 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2350008"/>
            <a:ext cx="1627632" cy="987552"/>
          </a:xfrm>
          <a:prstGeom prst="rect">
            <a:avLst/>
          </a:prstGeom>
          <a:noFill/>
          <a:ln w="12700">
            <a:solidFill>
              <a:srgbClr val="CD8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108960"/>
            <a:ext cx="13258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825069"/>
                </a:solidFill>
                <a:latin typeface="Aptos"/>
              </a:rPr>
              <a:t>Lambda SG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350008"/>
            <a:ext cx="1627632" cy="987552"/>
          </a:xfrm>
          <a:prstGeom prst="rect">
            <a:avLst/>
          </a:prstGeom>
          <a:noFill/>
          <a:ln w="12700">
            <a:solidFill>
              <a:srgbClr val="CD8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13258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825069"/>
                </a:solidFill>
                <a:latin typeface="Aptos"/>
              </a:rPr>
              <a:t>RDS SG</a:t>
            </a:r>
          </a:p>
        </p:txBody>
      </p:sp>
      <p:pic>
        <p:nvPicPr>
          <p:cNvPr id="13" name="Picture 12" descr="Arch_Amazon-EventBridge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2395728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89888" y="3063240"/>
            <a:ext cx="1005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Amazon
EventBridge
Monthly</a:t>
            </a:r>
          </a:p>
        </p:txBody>
      </p:sp>
      <p:pic>
        <p:nvPicPr>
          <p:cNvPr id="15" name="Picture 14" descr="Arch_AWS-Lambda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2395728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44368" y="3063240"/>
            <a:ext cx="1005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AWS Lambda</a:t>
            </a:r>
          </a:p>
        </p:txBody>
      </p:sp>
      <p:pic>
        <p:nvPicPr>
          <p:cNvPr id="17" name="Picture 16" descr="Arch_Amazon-RDS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395728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00016" y="3063240"/>
            <a:ext cx="1005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Amazon RDS</a:t>
            </a:r>
          </a:p>
        </p:txBody>
      </p:sp>
      <p:pic>
        <p:nvPicPr>
          <p:cNvPr id="19" name="Picture 18" descr="Arch_Amazon-Simple-Storage-Service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395728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9359" y="3063240"/>
            <a:ext cx="1005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Amazon S3</a:t>
            </a:r>
          </a:p>
        </p:txBody>
      </p:sp>
      <p:pic>
        <p:nvPicPr>
          <p:cNvPr id="21" name="Picture 20" descr="Arch_Amazon-Simple-Email-Service_64@5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2395728"/>
            <a:ext cx="640080" cy="640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73568" y="3063240"/>
            <a:ext cx="1005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Amazon SES</a:t>
            </a:r>
          </a:p>
        </p:txBody>
      </p:sp>
      <p:sp>
        <p:nvSpPr>
          <p:cNvPr id="23" name="Oval 22"/>
          <p:cNvSpPr/>
          <p:nvPr/>
        </p:nvSpPr>
        <p:spPr>
          <a:xfrm>
            <a:off x="1252728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788920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4526280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7790688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9418320" y="2331720"/>
            <a:ext cx="274320" cy="274320"/>
          </a:xfrm>
          <a:prstGeom prst="ellipse">
            <a:avLst/>
          </a:prstGeom>
          <a:noFill/>
          <a:ln w="12700">
            <a:solidFill>
              <a:srgbClr val="73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340863"/>
            <a:ext cx="274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735F96"/>
                </a:solidFill>
                <a:latin typeface="Aptos"/>
              </a:rPr>
              <a:t>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221992" y="2724912"/>
            <a:ext cx="905256" cy="0"/>
          </a:xfrm>
          <a:prstGeom prst="line">
            <a:avLst/>
          </a:prstGeom>
          <a:ln w="1524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76472" y="2724912"/>
            <a:ext cx="1106424" cy="0"/>
          </a:xfrm>
          <a:prstGeom prst="line">
            <a:avLst/>
          </a:prstGeom>
          <a:ln w="1524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20" y="2724912"/>
            <a:ext cx="960120" cy="0"/>
          </a:xfrm>
          <a:prstGeom prst="line">
            <a:avLst/>
          </a:prstGeom>
          <a:ln w="1524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32320" y="2724912"/>
            <a:ext cx="1024128" cy="0"/>
          </a:xfrm>
          <a:prstGeom prst="line">
            <a:avLst/>
          </a:prstGeom>
          <a:ln w="1524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6528" y="2724912"/>
            <a:ext cx="969264" cy="0"/>
          </a:xfrm>
          <a:prstGeom prst="line">
            <a:avLst/>
          </a:prstGeom>
          <a:ln w="1524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07792" y="1819656"/>
            <a:ext cx="530352" cy="530352"/>
          </a:xfrm>
          <a:prstGeom prst="line">
            <a:avLst/>
          </a:prstGeom>
          <a:ln w="12700">
            <a:solidFill>
              <a:srgbClr val="735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794760" y="1819656"/>
            <a:ext cx="704088" cy="530352"/>
          </a:xfrm>
          <a:prstGeom prst="line">
            <a:avLst/>
          </a:prstGeom>
          <a:ln w="12700">
            <a:solidFill>
              <a:srgbClr val="735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89320" y="2404872"/>
            <a:ext cx="502920" cy="603504"/>
          </a:xfrm>
          <a:prstGeom prst="roundRect">
            <a:avLst/>
          </a:prstGeom>
          <a:solidFill>
            <a:srgbClr val="239655"/>
          </a:solidFill>
          <a:ln>
            <a:solidFill>
              <a:srgbClr val="23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2551176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CSV</a:t>
            </a:r>
          </a:p>
        </p:txBody>
      </p:sp>
      <p:pic>
        <p:nvPicPr>
          <p:cNvPr id="44" name="Picture 43" descr="Arch_Amazon-CloudWatch_64@5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0672" y="4370832"/>
            <a:ext cx="658368" cy="6583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907792" y="5056632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CloudWatch</a:t>
            </a:r>
          </a:p>
        </p:txBody>
      </p:sp>
      <p:pic>
        <p:nvPicPr>
          <p:cNvPr id="46" name="Picture 45" descr="Arch_Amazon-Simple-Notification-Service_64@5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370832"/>
            <a:ext cx="658368" cy="6583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315968" y="5056632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E1E1E"/>
                </a:solidFill>
                <a:latin typeface="Aptos"/>
              </a:rPr>
              <a:t>Amazon SNS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30752" y="4700016"/>
            <a:ext cx="841248" cy="0"/>
          </a:xfrm>
          <a:prstGeom prst="line">
            <a:avLst/>
          </a:prstGeom>
          <a:ln w="12700">
            <a:solidFill>
              <a:srgbClr val="735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49039" y="4498848"/>
            <a:ext cx="4572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ptos"/>
              </a:rPr>
              <a:t>logs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3419856" y="3337560"/>
            <a:ext cx="54864" cy="1033272"/>
          </a:xfrm>
          <a:prstGeom prst="line">
            <a:avLst/>
          </a:prstGeom>
          <a:ln w="12700">
            <a:solidFill>
              <a:srgbClr val="735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172968" y="3867912"/>
            <a:ext cx="4572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ptos"/>
              </a:rPr>
              <a:t>logs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5687568"/>
            <a:ext cx="10561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Flow: EventBridge → Lambda (IAM Role) → Secrets Manager → Lambda Security Group → RDS Security Group → Amazon RDS → Generate CSV → Amazon S3 → Amazon SES. CloudWatch captures logs and SNS sends failure notifications.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6291072"/>
            <a:ext cx="749807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6E6E6E"/>
                </a:solidFill>
                <a:latin typeface="Aptos"/>
              </a:rPr>
              <a:t>AWS service symbols: official AWS Architecture Icons package supplied by AWS.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